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60" r:id="rId5"/>
    <p:sldId id="261" r:id="rId6"/>
    <p:sldId id="262" r:id="rId7"/>
    <p:sldId id="270" r:id="rId8"/>
    <p:sldId id="271" r:id="rId9"/>
    <p:sldId id="272" r:id="rId10"/>
    <p:sldId id="263" r:id="rId11"/>
    <p:sldId id="273" r:id="rId12"/>
    <p:sldId id="265" r:id="rId13"/>
    <p:sldId id="267" r:id="rId14"/>
    <p:sldId id="269" r:id="rId1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3" roundtripDataSignature="AMtx7mhEn6ZiuxDmhe9Qb8Tc73jSgnCO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F1AEB1-3345-4DEC-98D9-A505AC7A8FB6}">
  <a:tblStyle styleId="{FFF1AEB1-3345-4DEC-98D9-A505AC7A8FB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7974" autoAdjust="0"/>
  </p:normalViewPr>
  <p:slideViewPr>
    <p:cSldViewPr snapToGrid="0">
      <p:cViewPr varScale="1">
        <p:scale>
          <a:sx n="72" d="100"/>
          <a:sy n="72" d="100"/>
        </p:scale>
        <p:origin x="1786" y="67"/>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6858000" cy="9144000"/>
          </a:xfrm>
          <a:prstGeom prst="roundRect">
            <a:avLst>
              <a:gd name="adj" fmla="val 5"/>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4" name="Google Shape;4;n"/>
          <p:cNvSpPr txBox="1"/>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5" name="Google Shape;5;n"/>
          <p:cNvSpPr txBox="1">
            <a:spLocks noGrp="1"/>
          </p:cNvSpPr>
          <p:nvPr>
            <p:ph type="dt" idx="10"/>
          </p:nvPr>
        </p:nvSpPr>
        <p:spPr>
          <a:xfrm>
            <a:off x="3884612" y="0"/>
            <a:ext cx="2970212" cy="455612"/>
          </a:xfrm>
          <a:prstGeom prst="rect">
            <a:avLst/>
          </a:prstGeom>
          <a:noFill/>
          <a:ln>
            <a:noFill/>
          </a:ln>
        </p:spPr>
        <p:txBody>
          <a:bodyPr spcFirstLastPara="1" wrap="square" lIns="90000" tIns="46800" rIns="90000" bIns="46800" anchor="t" anchorCtr="0">
            <a:noAutofit/>
          </a:bodyPr>
          <a:lstStyle>
            <a:lvl1pPr marR="0" lvl="0" algn="l" rtl="0">
              <a:lnSpc>
                <a:spcPct val="100000"/>
              </a:lnSpc>
              <a:spcBef>
                <a:spcPts val="0"/>
              </a:spcBef>
              <a:spcAft>
                <a:spcPts val="0"/>
              </a:spcAft>
              <a:buSzPts val="1400"/>
              <a:buNone/>
              <a:defRPr sz="1800" b="0" i="0" u="none">
                <a:solidFill>
                  <a:srgbClr val="000000"/>
                </a:solidFill>
                <a:latin typeface="Calibri"/>
                <a:ea typeface="Calibri"/>
                <a:cs typeface="Calibri"/>
                <a:sym typeface="Calibri"/>
              </a:defRPr>
            </a:lvl1pPr>
            <a:lvl2pPr marR="0" lvl="1"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SzPts val="1400"/>
              <a:buNone/>
              <a:defRPr sz="1800" b="0" i="0" u="none" strike="noStrike" cap="none">
                <a:solidFill>
                  <a:srgbClr val="000000"/>
                </a:solidFill>
                <a:latin typeface="Calibri"/>
                <a:ea typeface="Calibri"/>
                <a:cs typeface="Calibri"/>
                <a:sym typeface="Calibri"/>
              </a:defRPr>
            </a:lvl9pPr>
          </a:lstStyle>
          <a:p>
            <a:endParaRPr/>
          </a:p>
        </p:txBody>
      </p:sp>
      <p:sp>
        <p:nvSpPr>
          <p:cNvPr id="6" name="Google Shape;6;n"/>
          <p:cNvSpPr>
            <a:spLocks noGrp="1" noRot="1" noChangeAspect="1"/>
          </p:cNvSpPr>
          <p:nvPr>
            <p:ph type="sldImg" idx="2"/>
          </p:nvPr>
        </p:nvSpPr>
        <p:spPr>
          <a:xfrm>
            <a:off x="1143000" y="685800"/>
            <a:ext cx="4570412" cy="3427412"/>
          </a:xfrm>
          <a:custGeom>
            <a:avLst/>
            <a:gdLst/>
            <a:ahLst/>
            <a:cxnLst/>
            <a:rect l="l" t="t" r="r" b="b"/>
            <a:pathLst>
              <a:path w="120000" h="120000" extrusionOk="0">
                <a:moveTo>
                  <a:pt x="0" y="0"/>
                </a:moveTo>
                <a:lnTo>
                  <a:pt x="120000" y="0"/>
                </a:lnTo>
                <a:lnTo>
                  <a:pt x="120000" y="120000"/>
                </a:lnTo>
                <a:lnTo>
                  <a:pt x="0" y="120000"/>
                </a:lnTo>
                <a:close/>
              </a:path>
            </a:pathLst>
          </a:custGeom>
          <a:noFill/>
          <a:ln w="12600" cap="sq" cmpd="sng">
            <a:solidFill>
              <a:srgbClr val="000000"/>
            </a:solidFill>
            <a:prstDash val="solid"/>
            <a:miter lim="800000"/>
            <a:headEnd type="none" w="sm" len="sm"/>
            <a:tailEnd type="none" w="sm" len="sm"/>
          </a:ln>
        </p:spPr>
      </p:sp>
      <p:sp>
        <p:nvSpPr>
          <p:cNvPr id="7" name="Google Shape;7;n"/>
          <p:cNvSpPr txBox="1">
            <a:spLocks noGrp="1"/>
          </p:cNvSpPr>
          <p:nvPr>
            <p:ph type="body" idx="1"/>
          </p:nvPr>
        </p:nvSpPr>
        <p:spPr>
          <a:xfrm>
            <a:off x="685800" y="4343400"/>
            <a:ext cx="5484812" cy="4113212"/>
          </a:xfrm>
          <a:prstGeom prst="rect">
            <a:avLst/>
          </a:prstGeom>
          <a:noFill/>
          <a:ln>
            <a:noFill/>
          </a:ln>
        </p:spPr>
        <p:txBody>
          <a:bodyPr spcFirstLastPara="1" wrap="square" lIns="90000" tIns="46800" rIns="90000" bIns="468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8" name="Google Shape;8;n"/>
          <p:cNvSpPr txBox="1"/>
          <p:nvPr/>
        </p:nvSpPr>
        <p:spPr>
          <a:xfrm>
            <a:off x="0" y="8685212"/>
            <a:ext cx="29718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rgbClr val="000000"/>
              </a:solidFill>
              <a:latin typeface="Calibri"/>
              <a:ea typeface="Calibri"/>
              <a:cs typeface="Calibri"/>
              <a:sym typeface="Calibri"/>
            </a:endParaRPr>
          </a:p>
        </p:txBody>
      </p:sp>
      <p:sp>
        <p:nvSpPr>
          <p:cNvPr id="9" name="Google Shape;9;n"/>
          <p:cNvSpPr txBox="1">
            <a:spLocks noGrp="1"/>
          </p:cNvSpPr>
          <p:nvPr>
            <p:ph type="sldNum" idx="12"/>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a:solidFill>
                  <a:srgbClr val="000000"/>
                </a:solidFill>
                <a:latin typeface="Calibri"/>
                <a:ea typeface="Calibri"/>
                <a:cs typeface="Calibri"/>
                <a:sym typeface="Calibri"/>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a:t>
            </a:fld>
            <a:endParaRPr/>
          </a:p>
        </p:txBody>
      </p:sp>
      <p:sp>
        <p:nvSpPr>
          <p:cNvPr id="57" name="Google Shape;5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8" name="Google Shape;58;p1: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r>
              <a:rPr lang="en-US"/>
              <a:t>jjjj</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2: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2</a:t>
            </a:fld>
            <a:endParaRPr/>
          </a:p>
        </p:txBody>
      </p:sp>
      <p:sp>
        <p:nvSpPr>
          <p:cNvPr id="65" name="Google Shape;6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r>
              <a:rPr lang="en-US" dirty="0"/>
              <a:t>       </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3: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3</a:t>
            </a:fld>
            <a:endParaRPr/>
          </a:p>
        </p:txBody>
      </p:sp>
      <p:sp>
        <p:nvSpPr>
          <p:cNvPr id="78" name="Google Shape;7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9" name="Google Shape;79;p3: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5: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4</a:t>
            </a:fld>
            <a:endParaRPr/>
          </a:p>
        </p:txBody>
      </p:sp>
      <p:sp>
        <p:nvSpPr>
          <p:cNvPr id="99" name="Google Shape;9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0" name="Google Shape;100;p5: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5</a:t>
            </a:fld>
            <a:endParaRPr/>
          </a:p>
        </p:txBody>
      </p:sp>
      <p:sp>
        <p:nvSpPr>
          <p:cNvPr id="109" name="Google Shape;10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0" name="Google Shape;110;p6: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f2e34be905_1_19:notes"/>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6</a:t>
            </a:fld>
            <a:endParaRPr/>
          </a:p>
        </p:txBody>
      </p:sp>
      <p:sp>
        <p:nvSpPr>
          <p:cNvPr id="119" name="Google Shape;119;g2f2e34be905_1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9F5119AE-23EB-D43E-0FB6-8C6C4B020056}"/>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6106BA3A-4771-838A-BB9A-5E3C581BD289}"/>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7</a:t>
            </a:fld>
            <a:endParaRPr/>
          </a:p>
        </p:txBody>
      </p:sp>
      <p:sp>
        <p:nvSpPr>
          <p:cNvPr id="119" name="Google Shape;119;g2f2e34be905_1_19:notes">
            <a:extLst>
              <a:ext uri="{FF2B5EF4-FFF2-40B4-BE49-F238E27FC236}">
                <a16:creationId xmlns:a16="http://schemas.microsoft.com/office/drawing/2014/main" id="{4425D587-BD4B-EF01-C40E-BE2556BFE5E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F62AC8FB-2E55-3995-47D5-A22D0DA3E9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0915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7DCA0F49-D989-69F3-622F-4E647D3CA26B}"/>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CAFC814B-643B-E7B2-EABE-0E29B47A1F23}"/>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8</a:t>
            </a:fld>
            <a:endParaRPr/>
          </a:p>
        </p:txBody>
      </p:sp>
      <p:sp>
        <p:nvSpPr>
          <p:cNvPr id="119" name="Google Shape;119;g2f2e34be905_1_19:notes">
            <a:extLst>
              <a:ext uri="{FF2B5EF4-FFF2-40B4-BE49-F238E27FC236}">
                <a16:creationId xmlns:a16="http://schemas.microsoft.com/office/drawing/2014/main" id="{BF52534F-C77E-66B6-394C-A1585FE4782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44C99417-FC92-F47C-D715-9289039449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5535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BFF59C11-BA77-B792-DC3B-57CA7986EFF9}"/>
            </a:ext>
          </a:extLst>
        </p:cNvPr>
        <p:cNvGrpSpPr/>
        <p:nvPr/>
      </p:nvGrpSpPr>
      <p:grpSpPr>
        <a:xfrm>
          <a:off x="0" y="0"/>
          <a:ext cx="0" cy="0"/>
          <a:chOff x="0" y="0"/>
          <a:chExt cx="0" cy="0"/>
        </a:xfrm>
      </p:grpSpPr>
      <p:sp>
        <p:nvSpPr>
          <p:cNvPr id="118" name="Google Shape;118;g2f2e34be905_1_19:notes">
            <a:extLst>
              <a:ext uri="{FF2B5EF4-FFF2-40B4-BE49-F238E27FC236}">
                <a16:creationId xmlns:a16="http://schemas.microsoft.com/office/drawing/2014/main" id="{9EC93F8F-B6E8-C474-ED19-932E19A6EB22}"/>
              </a:ext>
            </a:extLst>
          </p:cNvPr>
          <p:cNvSpPr txBox="1"/>
          <p:nvPr/>
        </p:nvSpPr>
        <p:spPr>
          <a:xfrm>
            <a:off x="3884612" y="8685212"/>
            <a:ext cx="2970300" cy="455700"/>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9</a:t>
            </a:fld>
            <a:endParaRPr/>
          </a:p>
        </p:txBody>
      </p:sp>
      <p:sp>
        <p:nvSpPr>
          <p:cNvPr id="119" name="Google Shape;119;g2f2e34be905_1_19:notes">
            <a:extLst>
              <a:ext uri="{FF2B5EF4-FFF2-40B4-BE49-F238E27FC236}">
                <a16:creationId xmlns:a16="http://schemas.microsoft.com/office/drawing/2014/main" id="{3F6C0FBD-A8E0-7BB2-A623-8A45584678D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0" name="Google Shape;120;g2f2e34be905_1_19:notes">
            <a:extLst>
              <a:ext uri="{FF2B5EF4-FFF2-40B4-BE49-F238E27FC236}">
                <a16:creationId xmlns:a16="http://schemas.microsoft.com/office/drawing/2014/main" id="{C5D4AA9D-6F3F-7A2F-129F-F7D3BA823B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148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10</a:t>
            </a:fld>
            <a:endParaRPr/>
          </a:p>
        </p:txBody>
      </p:sp>
      <p:sp>
        <p:nvSpPr>
          <p:cNvPr id="129" name="Google Shape;12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0" name="Google Shape;130;p7: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A4F56EFF-636C-87A4-C7D5-F203F41F44F9}"/>
            </a:ext>
          </a:extLst>
        </p:cNvPr>
        <p:cNvGrpSpPr/>
        <p:nvPr/>
      </p:nvGrpSpPr>
      <p:grpSpPr>
        <a:xfrm>
          <a:off x="0" y="0"/>
          <a:ext cx="0" cy="0"/>
          <a:chOff x="0" y="0"/>
          <a:chExt cx="0" cy="0"/>
        </a:xfrm>
      </p:grpSpPr>
      <p:sp>
        <p:nvSpPr>
          <p:cNvPr id="128" name="Google Shape;128;p7:notes">
            <a:extLst>
              <a:ext uri="{FF2B5EF4-FFF2-40B4-BE49-F238E27FC236}">
                <a16:creationId xmlns:a16="http://schemas.microsoft.com/office/drawing/2014/main" id="{49613B5B-D82A-2DF8-B257-6F41395BD22B}"/>
              </a:ext>
            </a:extLst>
          </p:cNvPr>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11</a:t>
            </a:fld>
            <a:endParaRPr/>
          </a:p>
        </p:txBody>
      </p:sp>
      <p:sp>
        <p:nvSpPr>
          <p:cNvPr id="129" name="Google Shape;129;p7:notes">
            <a:extLst>
              <a:ext uri="{FF2B5EF4-FFF2-40B4-BE49-F238E27FC236}">
                <a16:creationId xmlns:a16="http://schemas.microsoft.com/office/drawing/2014/main" id="{028C1A6B-AB69-0D97-0AD9-5AD1000476A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0" name="Google Shape;130;p7:notes">
            <a:extLst>
              <a:ext uri="{FF2B5EF4-FFF2-40B4-BE49-F238E27FC236}">
                <a16:creationId xmlns:a16="http://schemas.microsoft.com/office/drawing/2014/main" id="{0C1433B7-2B21-D2D2-647F-A6DB15922A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9587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12</a:t>
            </a:fld>
            <a:endParaRPr/>
          </a:p>
        </p:txBody>
      </p:sp>
      <p:sp>
        <p:nvSpPr>
          <p:cNvPr id="149" name="Google Shape;14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0" name="Google Shape;150;p8: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13</a:t>
            </a:fld>
            <a:endParaRPr/>
          </a:p>
        </p:txBody>
      </p:sp>
      <p:sp>
        <p:nvSpPr>
          <p:cNvPr id="169" name="Google Shape;16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0" name="Google Shape;170;p11: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3:notes"/>
          <p:cNvSpPr txBox="1"/>
          <p:nvPr/>
        </p:nvSpPr>
        <p:spPr>
          <a:xfrm>
            <a:off x="3884612" y="8685212"/>
            <a:ext cx="2970212" cy="455612"/>
          </a:xfrm>
          <a:prstGeom prst="rect">
            <a:avLst/>
          </a:prstGeom>
          <a:noFill/>
          <a:ln>
            <a:noFill/>
          </a:ln>
        </p:spPr>
        <p:txBody>
          <a:bodyPr spcFirstLastPara="1" wrap="square" lIns="90000" tIns="46800" rIns="90000" bIns="468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US" sz="1800" b="0" i="0" u="none">
                <a:solidFill>
                  <a:srgbClr val="000000"/>
                </a:solidFill>
                <a:latin typeface="Calibri"/>
                <a:ea typeface="Calibri"/>
                <a:cs typeface="Calibri"/>
                <a:sym typeface="Calibri"/>
              </a:rPr>
              <a:t>14</a:t>
            </a:fld>
            <a:endParaRPr/>
          </a:p>
        </p:txBody>
      </p:sp>
      <p:sp>
        <p:nvSpPr>
          <p:cNvPr id="190" name="Google Shape;19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91" name="Google Shape;191;p13:notes"/>
          <p:cNvSpPr txBox="1">
            <a:spLocks noGrp="1"/>
          </p:cNvSpPr>
          <p:nvPr>
            <p:ph type="body" idx="1"/>
          </p:nvPr>
        </p:nvSpPr>
        <p:spPr>
          <a:xfrm>
            <a:off x="685800" y="4343400"/>
            <a:ext cx="5486400" cy="4114800"/>
          </a:xfrm>
          <a:prstGeom prst="rect">
            <a:avLst/>
          </a:prstGeom>
          <a:noFill/>
          <a:ln>
            <a:noFill/>
          </a:ln>
        </p:spPr>
        <p:txBody>
          <a:bodyPr spcFirstLastPara="1" wrap="square" lIns="90000" tIns="46800" rIns="90000" bIns="46800" anchor="ctr"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2f21868b929_3_11"/>
          <p:cNvSpPr txBox="1">
            <a:spLocks noGrp="1"/>
          </p:cNvSpPr>
          <p:nvPr>
            <p:ph type="ctrTitle"/>
          </p:nvPr>
        </p:nvSpPr>
        <p:spPr>
          <a:xfrm>
            <a:off x="311708" y="992767"/>
            <a:ext cx="8520600" cy="273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6" name="Google Shape;16;g2f21868b929_3_11"/>
          <p:cNvSpPr txBox="1">
            <a:spLocks noGrp="1"/>
          </p:cNvSpPr>
          <p:nvPr>
            <p:ph type="subTitle" idx="1"/>
          </p:nvPr>
        </p:nvSpPr>
        <p:spPr>
          <a:xfrm>
            <a:off x="311700" y="3778833"/>
            <a:ext cx="8520600" cy="10569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7" name="Google Shape;17;g2f21868b929_3_11"/>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g2f21868b929_3_15"/>
          <p:cNvSpPr txBox="1">
            <a:spLocks noGrp="1"/>
          </p:cNvSpPr>
          <p:nvPr>
            <p:ph type="title"/>
          </p:nvPr>
        </p:nvSpPr>
        <p:spPr>
          <a:xfrm>
            <a:off x="311700" y="2867800"/>
            <a:ext cx="8520600" cy="11223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g2f21868b929_3_15"/>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g2f21868b929_3_18"/>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 name="Google Shape;23;g2f21868b929_3_18"/>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g2f21868b929_3_18"/>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g2f21868b929_3_22"/>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g2f21868b929_3_22"/>
          <p:cNvSpPr txBox="1">
            <a:spLocks noGrp="1"/>
          </p:cNvSpPr>
          <p:nvPr>
            <p:ph type="body" idx="1"/>
          </p:nvPr>
        </p:nvSpPr>
        <p:spPr>
          <a:xfrm>
            <a:off x="3117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g2f21868b929_3_22"/>
          <p:cNvSpPr txBox="1">
            <a:spLocks noGrp="1"/>
          </p:cNvSpPr>
          <p:nvPr>
            <p:ph type="body" idx="2"/>
          </p:nvPr>
        </p:nvSpPr>
        <p:spPr>
          <a:xfrm>
            <a:off x="4832400"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g2f21868b929_3_22"/>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g2f21868b929_3_27"/>
          <p:cNvSpPr txBox="1">
            <a:spLocks noGrp="1"/>
          </p:cNvSpPr>
          <p:nvPr>
            <p:ph type="title"/>
          </p:nvPr>
        </p:nvSpPr>
        <p:spPr>
          <a:xfrm>
            <a:off x="311700" y="593367"/>
            <a:ext cx="8520600" cy="7635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 name="Google Shape;32;g2f21868b929_3_2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g2f21868b929_3_30"/>
          <p:cNvSpPr txBox="1">
            <a:spLocks noGrp="1"/>
          </p:cNvSpPr>
          <p:nvPr>
            <p:ph type="title"/>
          </p:nvPr>
        </p:nvSpPr>
        <p:spPr>
          <a:xfrm>
            <a:off x="311700" y="740800"/>
            <a:ext cx="2808000" cy="1007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5" name="Google Shape;35;g2f21868b929_3_30"/>
          <p:cNvSpPr txBox="1">
            <a:spLocks noGrp="1"/>
          </p:cNvSpPr>
          <p:nvPr>
            <p:ph type="body" idx="1"/>
          </p:nvPr>
        </p:nvSpPr>
        <p:spPr>
          <a:xfrm>
            <a:off x="311700" y="1852800"/>
            <a:ext cx="2808000" cy="42393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6" name="Google Shape;36;g2f21868b929_3_3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g2f21868b929_3_34"/>
          <p:cNvSpPr txBox="1">
            <a:spLocks noGrp="1"/>
          </p:cNvSpPr>
          <p:nvPr>
            <p:ph type="title"/>
          </p:nvPr>
        </p:nvSpPr>
        <p:spPr>
          <a:xfrm>
            <a:off x="490250" y="600200"/>
            <a:ext cx="6367800" cy="54543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9" name="Google Shape;39;g2f21868b929_3_34"/>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0"/>
        <p:cNvGrpSpPr/>
        <p:nvPr/>
      </p:nvGrpSpPr>
      <p:grpSpPr>
        <a:xfrm>
          <a:off x="0" y="0"/>
          <a:ext cx="0" cy="0"/>
          <a:chOff x="0" y="0"/>
          <a:chExt cx="0" cy="0"/>
        </a:xfrm>
      </p:grpSpPr>
      <p:sp>
        <p:nvSpPr>
          <p:cNvPr id="41" name="Google Shape;41;g2f21868b929_3_37"/>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g2f21868b929_3_37"/>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3" name="Google Shape;43;g2f21868b929_3_37"/>
          <p:cNvSpPr txBox="1">
            <a:spLocks noGrp="1"/>
          </p:cNvSpPr>
          <p:nvPr>
            <p:ph type="subTitle" idx="1"/>
          </p:nvPr>
        </p:nvSpPr>
        <p:spPr>
          <a:xfrm>
            <a:off x="265500" y="3737433"/>
            <a:ext cx="4045200" cy="16467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g2f21868b929_3_37"/>
          <p:cNvSpPr txBox="1">
            <a:spLocks noGrp="1"/>
          </p:cNvSpPr>
          <p:nvPr>
            <p:ph type="body" idx="2"/>
          </p:nvPr>
        </p:nvSpPr>
        <p:spPr>
          <a:xfrm>
            <a:off x="4939500" y="965433"/>
            <a:ext cx="3837000" cy="49269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5" name="Google Shape;45;g2f21868b929_3_37"/>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g2f21868b929_3_43"/>
          <p:cNvSpPr txBox="1">
            <a:spLocks noGrp="1"/>
          </p:cNvSpPr>
          <p:nvPr>
            <p:ph type="body" idx="1"/>
          </p:nvPr>
        </p:nvSpPr>
        <p:spPr>
          <a:xfrm>
            <a:off x="311700" y="5640767"/>
            <a:ext cx="5998800" cy="80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8" name="Google Shape;48;g2f21868b929_3_43"/>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g2f21868b929_3_46"/>
          <p:cNvSpPr txBox="1">
            <a:spLocks noGrp="1"/>
          </p:cNvSpPr>
          <p:nvPr>
            <p:ph type="title" hasCustomPrompt="1"/>
          </p:nvPr>
        </p:nvSpPr>
        <p:spPr>
          <a:xfrm>
            <a:off x="311700" y="1474833"/>
            <a:ext cx="8520600" cy="26181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g2f21868b929_3_46"/>
          <p:cNvSpPr txBox="1">
            <a:spLocks noGrp="1"/>
          </p:cNvSpPr>
          <p:nvPr>
            <p:ph type="body" idx="1"/>
          </p:nvPr>
        </p:nvSpPr>
        <p:spPr>
          <a:xfrm>
            <a:off x="311700" y="4202967"/>
            <a:ext cx="8520600" cy="17343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g2f21868b929_3_46"/>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g2f21868b929_3_50"/>
          <p:cNvSpPr txBox="1">
            <a:spLocks noGrp="1"/>
          </p:cNvSpPr>
          <p:nvPr>
            <p:ph type="sldNum" idx="12"/>
          </p:nvPr>
        </p:nvSpPr>
        <p:spPr>
          <a:xfrm>
            <a:off x="8472458" y="6217622"/>
            <a:ext cx="548700" cy="5247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3">
            <a:alphaModFix amt="25000"/>
            <a:lum/>
          </a:blip>
          <a:srcRect/>
          <a:stretch>
            <a:fillRect t="-23000" b="-23000"/>
          </a:stretch>
        </a:blipFill>
        <a:effectLst/>
      </p:bgPr>
    </p:bg>
    <p:spTree>
      <p:nvGrpSpPr>
        <p:cNvPr id="1" name="Shape 10"/>
        <p:cNvGrpSpPr/>
        <p:nvPr/>
      </p:nvGrpSpPr>
      <p:grpSpPr>
        <a:xfrm>
          <a:off x="0" y="0"/>
          <a:ext cx="0" cy="0"/>
          <a:chOff x="0" y="0"/>
          <a:chExt cx="0" cy="0"/>
        </a:xfrm>
      </p:grpSpPr>
      <p:sp>
        <p:nvSpPr>
          <p:cNvPr id="11" name="Google Shape;11;g2f21868b929_3_7"/>
          <p:cNvSpPr txBox="1">
            <a:spLocks noGrp="1"/>
          </p:cNvSpPr>
          <p:nvPr>
            <p:ph type="title"/>
          </p:nvPr>
        </p:nvSpPr>
        <p:spPr>
          <a:xfrm>
            <a:off x="311700" y="593367"/>
            <a:ext cx="8520600" cy="7635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2" name="Google Shape;12;g2f21868b929_3_7"/>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13" name="Google Shape;13;g2f21868b929_3_7"/>
          <p:cNvSpPr txBox="1">
            <a:spLocks noGrp="1"/>
          </p:cNvSpPr>
          <p:nvPr>
            <p:ph type="sldNum" idx="12"/>
          </p:nvPr>
        </p:nvSpPr>
        <p:spPr>
          <a:xfrm>
            <a:off x="8472458" y="6217622"/>
            <a:ext cx="548700" cy="5247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txBox="1"/>
          <p:nvPr/>
        </p:nvSpPr>
        <p:spPr>
          <a:xfrm>
            <a:off x="0" y="6553200"/>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61" name="Google Shape;61;p1"/>
          <p:cNvSpPr/>
          <p:nvPr/>
        </p:nvSpPr>
        <p:spPr>
          <a:xfrm>
            <a:off x="412879" y="495172"/>
            <a:ext cx="8061223" cy="2332004"/>
          </a:xfrm>
          <a:prstGeom prst="roundRect">
            <a:avLst>
              <a:gd name="adj" fmla="val 16667"/>
            </a:avLst>
          </a:prstGeom>
          <a:solidFill>
            <a:srgbClr val="04064C"/>
          </a:solidFill>
          <a:ln>
            <a:noFill/>
          </a:ln>
        </p:spPr>
        <p:txBody>
          <a:bodyPr spcFirstLastPara="1" wrap="square" lIns="91425" tIns="45700" rIns="91425" bIns="45700" anchor="ctr" anchorCtr="0">
            <a:noAutofit/>
          </a:bodyPr>
          <a:lstStyle/>
          <a:p>
            <a:pPr algn="ctr">
              <a:lnSpc>
                <a:spcPct val="115000"/>
              </a:lnSpc>
              <a:spcBef>
                <a:spcPts val="500"/>
              </a:spcBef>
              <a:spcAft>
                <a:spcPts val="500"/>
              </a:spcAft>
              <a:buClr>
                <a:schemeClr val="dk1"/>
              </a:buClr>
              <a:buSzPts val="1100"/>
            </a:pPr>
            <a:r>
              <a:rPr lang="en-US" sz="3600" dirty="0">
                <a:solidFill>
                  <a:schemeClr val="bg1"/>
                </a:solidFill>
                <a:latin typeface="+mj-lt"/>
                <a:ea typeface="SimSun" panose="02010600030101010101" pitchFamily="2" charset="-122"/>
                <a:cs typeface="Times New Roman" panose="02020603050405020304" pitchFamily="18" charset="0"/>
              </a:rPr>
              <a:t>BIKE RENTAL</a:t>
            </a:r>
            <a:endParaRPr lang="en-US" sz="2600" dirty="0">
              <a:solidFill>
                <a:schemeClr val="bg1"/>
              </a:solidFill>
              <a:effectLst/>
              <a:latin typeface="+mj-lt"/>
              <a:ea typeface="SimSun" panose="02010600030101010101" pitchFamily="2" charset="-122"/>
              <a:cs typeface="Times New Roman" panose="02020603050405020304" pitchFamily="18" charset="0"/>
            </a:endParaRPr>
          </a:p>
        </p:txBody>
      </p:sp>
      <p:sp>
        <p:nvSpPr>
          <p:cNvPr id="5" name="TextBox 4">
            <a:extLst>
              <a:ext uri="{FF2B5EF4-FFF2-40B4-BE49-F238E27FC236}">
                <a16:creationId xmlns:a16="http://schemas.microsoft.com/office/drawing/2014/main" id="{BFCCB5BA-6539-8C45-560A-2DF54A8EE179}"/>
              </a:ext>
            </a:extLst>
          </p:cNvPr>
          <p:cNvSpPr txBox="1"/>
          <p:nvPr/>
        </p:nvSpPr>
        <p:spPr>
          <a:xfrm>
            <a:off x="6351639" y="3900155"/>
            <a:ext cx="4709650" cy="584775"/>
          </a:xfrm>
          <a:prstGeom prst="rect">
            <a:avLst/>
          </a:prstGeom>
          <a:noFill/>
        </p:spPr>
        <p:txBody>
          <a:bodyPr wrap="square">
            <a:spAutoFit/>
          </a:bodyPr>
          <a:lstStyle/>
          <a:p>
            <a:pPr marL="0" marR="0">
              <a:spcBef>
                <a:spcPts val="0"/>
              </a:spcBef>
              <a:spcAft>
                <a:spcPts val="0"/>
              </a:spcAft>
            </a:pPr>
            <a:br>
              <a:rPr lang="en-IN" sz="1400" kern="100" dirty="0">
                <a:effectLst/>
                <a:latin typeface="Times New Roman" panose="02020603050405020304" pitchFamily="18" charset="0"/>
                <a:ea typeface="宋体" panose="02010600030101010101" pitchFamily="2" charset="-122"/>
              </a:rPr>
            </a:br>
            <a:endParaRPr lang="en-IN" sz="1800" kern="100" dirty="0">
              <a:effectLst/>
              <a:latin typeface="Times New Roman" panose="02020603050405020304" pitchFamily="18" charset="0"/>
              <a:ea typeface="宋体" panose="02010600030101010101" pitchFamily="2" charset="-122"/>
            </a:endParaRPr>
          </a:p>
        </p:txBody>
      </p:sp>
      <p:sp>
        <p:nvSpPr>
          <p:cNvPr id="11" name="TextBox 10">
            <a:extLst>
              <a:ext uri="{FF2B5EF4-FFF2-40B4-BE49-F238E27FC236}">
                <a16:creationId xmlns:a16="http://schemas.microsoft.com/office/drawing/2014/main" id="{08BB9FEB-905F-60EC-6BCE-BF26462A99D8}"/>
              </a:ext>
            </a:extLst>
          </p:cNvPr>
          <p:cNvSpPr txBox="1"/>
          <p:nvPr/>
        </p:nvSpPr>
        <p:spPr>
          <a:xfrm>
            <a:off x="5990255" y="3645543"/>
            <a:ext cx="2362550" cy="2089290"/>
          </a:xfrm>
          <a:prstGeom prst="rect">
            <a:avLst/>
          </a:prstGeom>
          <a:noFill/>
        </p:spPr>
        <p:txBody>
          <a:bodyPr wrap="square">
            <a:spAutoFit/>
          </a:bodyPr>
          <a:lstStyle/>
          <a:p>
            <a:pPr marL="0" marR="0" algn="ctr">
              <a:spcBef>
                <a:spcPts val="0"/>
              </a:spcBef>
              <a:spcAft>
                <a:spcPts val="0"/>
              </a:spcAft>
            </a:pPr>
            <a:r>
              <a:rPr lang="en-IN" sz="2000" b="1" kern="100" dirty="0">
                <a:effectLst/>
                <a:latin typeface="Times New Roman" panose="02020603050405020304" pitchFamily="18" charset="0"/>
                <a:ea typeface="宋体" panose="02010600030101010101" pitchFamily="2" charset="-122"/>
              </a:rPr>
              <a:t>PRESENTED BY:</a:t>
            </a:r>
            <a:br>
              <a:rPr lang="en-IN" sz="2000" b="1" kern="100" dirty="0">
                <a:effectLst/>
                <a:latin typeface="Times New Roman" panose="02020603050405020304" pitchFamily="18" charset="0"/>
                <a:ea typeface="宋体" panose="02010600030101010101" pitchFamily="2" charset="-122"/>
              </a:rPr>
            </a:br>
            <a:r>
              <a:rPr lang="en-IN" sz="1400" b="1" kern="100" dirty="0">
                <a:effectLst/>
                <a:latin typeface="Times New Roman" panose="02020603050405020304" pitchFamily="18" charset="0"/>
                <a:ea typeface="宋体" panose="02010600030101010101" pitchFamily="2" charset="-122"/>
              </a:rPr>
              <a:t>  </a:t>
            </a:r>
          </a:p>
          <a:p>
            <a:pPr marL="0" marR="0" algn="ctr">
              <a:spcBef>
                <a:spcPts val="0"/>
              </a:spcBef>
              <a:spcAft>
                <a:spcPts val="0"/>
              </a:spcAft>
            </a:pPr>
            <a:r>
              <a:rPr lang="en-IN" sz="1800" kern="100" dirty="0">
                <a:effectLst/>
                <a:latin typeface="Times New Roman" panose="02020603050405020304" pitchFamily="18" charset="0"/>
                <a:ea typeface="宋体" panose="02010600030101010101" pitchFamily="2" charset="-122"/>
              </a:rPr>
              <a:t>PUJITH KUMAR</a:t>
            </a:r>
          </a:p>
          <a:p>
            <a:pPr marL="0" marR="0" algn="ctr">
              <a:lnSpc>
                <a:spcPct val="150000"/>
              </a:lnSpc>
              <a:spcBef>
                <a:spcPts val="0"/>
              </a:spcBef>
              <a:spcAft>
                <a:spcPts val="0"/>
              </a:spcAft>
            </a:pPr>
            <a:r>
              <a:rPr lang="en-IN" sz="1800" kern="100" dirty="0">
                <a:latin typeface="Times New Roman" panose="02020603050405020304" pitchFamily="18" charset="0"/>
                <a:ea typeface="宋体" panose="02010600030101010101" pitchFamily="2" charset="-122"/>
              </a:rPr>
              <a:t>ARUN KUMAR</a:t>
            </a:r>
            <a:endParaRPr lang="en-IN" sz="1800" kern="100" dirty="0">
              <a:effectLst/>
              <a:latin typeface="Times New Roman" panose="02020603050405020304" pitchFamily="18" charset="0"/>
              <a:ea typeface="宋体" panose="02010600030101010101" pitchFamily="2" charset="-122"/>
            </a:endParaRPr>
          </a:p>
          <a:p>
            <a:pPr marL="0" marR="0" algn="ctr">
              <a:lnSpc>
                <a:spcPct val="150000"/>
              </a:lnSpc>
              <a:spcBef>
                <a:spcPts val="0"/>
              </a:spcBef>
              <a:spcAft>
                <a:spcPts val="0"/>
              </a:spcAft>
            </a:pPr>
            <a:r>
              <a:rPr lang="en-IN" sz="1800" kern="100" dirty="0">
                <a:effectLst/>
                <a:latin typeface="Times New Roman" panose="02020603050405020304" pitchFamily="18" charset="0"/>
                <a:ea typeface="宋体" panose="02010600030101010101" pitchFamily="2" charset="-122"/>
              </a:rPr>
              <a:t>CHAND</a:t>
            </a:r>
            <a:r>
              <a:rPr lang="en-IN" sz="1800" kern="100" dirty="0">
                <a:latin typeface="Times New Roman" panose="02020603050405020304" pitchFamily="18" charset="0"/>
                <a:ea typeface="宋体" panose="02010600030101010101" pitchFamily="2" charset="-122"/>
              </a:rPr>
              <a:t>U</a:t>
            </a:r>
            <a:endParaRPr lang="en-IN" sz="1800" kern="100" dirty="0">
              <a:effectLst/>
              <a:latin typeface="Times New Roman" panose="02020603050405020304" pitchFamily="18" charset="0"/>
              <a:ea typeface="宋体" panose="02010600030101010101" pitchFamily="2" charset="-122"/>
            </a:endParaRPr>
          </a:p>
          <a:p>
            <a:pPr marL="0" marR="0" algn="ctr">
              <a:lnSpc>
                <a:spcPct val="150000"/>
              </a:lnSpc>
              <a:spcBef>
                <a:spcPts val="0"/>
              </a:spcBef>
              <a:spcAft>
                <a:spcPts val="0"/>
              </a:spcAft>
            </a:pPr>
            <a:r>
              <a:rPr lang="en-IN" sz="1800" kern="100" dirty="0">
                <a:effectLst/>
                <a:latin typeface="Times New Roman" panose="02020603050405020304" pitchFamily="18" charset="0"/>
                <a:ea typeface="宋体" panose="02010600030101010101" pitchFamily="2" charset="-122"/>
              </a:rPr>
              <a:t>JENISHA</a:t>
            </a:r>
          </a:p>
        </p:txBody>
      </p:sp>
      <p:pic>
        <p:nvPicPr>
          <p:cNvPr id="3" name="Picture 2">
            <a:extLst>
              <a:ext uri="{FF2B5EF4-FFF2-40B4-BE49-F238E27FC236}">
                <a16:creationId xmlns:a16="http://schemas.microsoft.com/office/drawing/2014/main" id="{EF945A63-21D1-7D1D-D35E-25FBDB658268}"/>
              </a:ext>
            </a:extLst>
          </p:cNvPr>
          <p:cNvPicPr>
            <a:picLocks noChangeAspect="1"/>
          </p:cNvPicPr>
          <p:nvPr/>
        </p:nvPicPr>
        <p:blipFill>
          <a:blip r:embed="rId3"/>
          <a:stretch>
            <a:fillRect/>
          </a:stretch>
        </p:blipFill>
        <p:spPr>
          <a:xfrm>
            <a:off x="531628" y="3428999"/>
            <a:ext cx="5092996" cy="28442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txBox="1"/>
          <p:nvPr/>
        </p:nvSpPr>
        <p:spPr>
          <a:xfrm>
            <a:off x="4795800" y="0"/>
            <a:ext cx="4348200" cy="11418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endParaRPr lang="en-US" sz="1600" b="1" i="0" u="none" dirty="0">
              <a:solidFill>
                <a:srgbClr val="04064C"/>
              </a:solidFill>
              <a:latin typeface="Times New Roman"/>
              <a:ea typeface="Times New Roman"/>
              <a:cs typeface="Times New Roman"/>
              <a:sym typeface="Times New Roman"/>
            </a:endParaRPr>
          </a:p>
        </p:txBody>
      </p:sp>
      <p:sp>
        <p:nvSpPr>
          <p:cNvPr id="70" name="Google Shape;70;p2"/>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73" name="Google Shape;73;p2"/>
          <p:cNvSpPr txBox="1"/>
          <p:nvPr/>
        </p:nvSpPr>
        <p:spPr>
          <a:xfrm>
            <a:off x="300050" y="1950037"/>
            <a:ext cx="8266200" cy="4006426"/>
          </a:xfrm>
          <a:prstGeom prst="rect">
            <a:avLst/>
          </a:prstGeom>
          <a:noFill/>
          <a:ln>
            <a:noFill/>
          </a:ln>
        </p:spPr>
        <p:txBody>
          <a:bodyPr spcFirstLastPara="1" wrap="square" lIns="90000" tIns="457200" rIns="90000" bIns="46800" anchor="b" anchorCtr="0">
            <a:noAutofit/>
          </a:bodyPr>
          <a:lstStyle/>
          <a:p>
            <a:pPr marL="0" lvl="0" indent="0" algn="l" rtl="0">
              <a:lnSpc>
                <a:spcPct val="115000"/>
              </a:lnSpc>
              <a:spcBef>
                <a:spcPts val="1200"/>
              </a:spcBef>
              <a:spcAft>
                <a:spcPts val="1200"/>
              </a:spcAft>
              <a:buClr>
                <a:schemeClr val="dk1"/>
              </a:buClr>
              <a:buSzPts val="1100"/>
              <a:buFont typeface="Arial"/>
              <a:buNone/>
            </a:pPr>
            <a:endParaRPr sz="2000" dirty="0">
              <a:latin typeface="Times New Roman"/>
              <a:ea typeface="Times New Roman"/>
              <a:cs typeface="Times New Roman"/>
              <a:sym typeface="Times New Roman"/>
            </a:endParaRPr>
          </a:p>
        </p:txBody>
      </p:sp>
      <p:sp>
        <p:nvSpPr>
          <p:cNvPr id="75" name="Google Shape;75;p2"/>
          <p:cNvSpPr txBox="1"/>
          <p:nvPr/>
        </p:nvSpPr>
        <p:spPr>
          <a:xfrm>
            <a:off x="151067" y="1757229"/>
            <a:ext cx="8841866" cy="4396558"/>
          </a:xfrm>
          <a:prstGeom prst="rect">
            <a:avLst/>
          </a:prstGeom>
          <a:noFill/>
          <a:ln>
            <a:noFill/>
          </a:ln>
        </p:spPr>
        <p:txBody>
          <a:bodyPr spcFirstLastPara="1" wrap="square" lIns="91425" tIns="91425" rIns="91425" bIns="91425" anchor="t" anchorCtr="0">
            <a:spAutoFit/>
          </a:bodyPr>
          <a:lstStyle/>
          <a:p>
            <a:pPr lvl="0" algn="just">
              <a:lnSpc>
                <a:spcPct val="150000"/>
              </a:lnSpc>
              <a:buClr>
                <a:srgbClr val="7F7F7F"/>
              </a:buClr>
              <a:buSzPts val="1600"/>
            </a:pPr>
            <a:r>
              <a:rPr lang="en-US" sz="1800" dirty="0">
                <a:latin typeface="Times New Roman" panose="02020603050405020304" pitchFamily="18" charset="0"/>
                <a:cs typeface="Times New Roman" panose="02020603050405020304" pitchFamily="18" charset="0"/>
              </a:rPr>
              <a:t>With the increasing demand for sustainable and eco-friendly transportation, bike sharing systems have gained significant popularity in urban environments. These systems generate large volumes of data related to time, weather, and user behavior. This project focuses on analyzing bike rental data and predicting daily bike rental demand using environmental and seasonal factors. The dataset includes attributes such as temperature, humidity, wind speed, weather conditions, season, holidays, and working days. A complete exploratory data analysis is performed to identify usage patterns. Multiple machine learning models are developed and compared to obtain accurate predictions. The proposed system helps bike rental operators improve planning, resource utilization, and overall service quality.</a:t>
            </a:r>
            <a:endParaRPr lang="en-US" sz="1800" b="1" dirty="0">
              <a:solidFill>
                <a:srgbClr val="04064C"/>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15000"/>
              </a:lnSpc>
              <a:spcBef>
                <a:spcPts val="1200"/>
              </a:spcBef>
              <a:spcAft>
                <a:spcPts val="0"/>
              </a:spcAft>
              <a:buNone/>
            </a:pPr>
            <a:endParaRPr sz="1800" dirty="0">
              <a:solidFill>
                <a:schemeClr val="dk1"/>
              </a:solidFill>
            </a:endParaRPr>
          </a:p>
        </p:txBody>
      </p:sp>
      <p:sp>
        <p:nvSpPr>
          <p:cNvPr id="7" name="Google Shape;82;p3">
            <a:extLst>
              <a:ext uri="{FF2B5EF4-FFF2-40B4-BE49-F238E27FC236}">
                <a16:creationId xmlns:a16="http://schemas.microsoft.com/office/drawing/2014/main" id="{8031E1F0-2326-D0C0-7A27-434F4A0711D6}"/>
              </a:ext>
            </a:extLst>
          </p:cNvPr>
          <p:cNvSpPr txBox="1"/>
          <p:nvPr/>
        </p:nvSpPr>
        <p:spPr>
          <a:xfrm>
            <a:off x="0" y="0"/>
            <a:ext cx="4795800" cy="116106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IN" sz="3600" b="1" i="0" u="none" dirty="0">
                <a:solidFill>
                  <a:srgbClr val="C00000"/>
                </a:solidFill>
                <a:latin typeface="Times New Roman" panose="02020603050405020304" pitchFamily="18" charset="0"/>
                <a:ea typeface="Calibri"/>
                <a:cs typeface="Times New Roman" panose="02020603050405020304" pitchFamily="18" charset="0"/>
                <a:sym typeface="Calibri"/>
              </a:rPr>
              <a:t>Abstract</a:t>
            </a:r>
            <a:endParaRPr sz="3600" b="1" i="0" u="none" dirty="0">
              <a:solidFill>
                <a:srgbClr val="C0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3"/>
          <p:cNvSpPr txBox="1"/>
          <p:nvPr/>
        </p:nvSpPr>
        <p:spPr>
          <a:xfrm>
            <a:off x="4795825" y="0"/>
            <a:ext cx="4348200" cy="11418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7F7F"/>
              </a:buClr>
              <a:buSzPts val="1600"/>
              <a:buFont typeface="Times New Roman"/>
              <a:buNone/>
            </a:pPr>
            <a:endParaRPr lang="en-US" sz="1600" b="1" i="0" u="none" dirty="0">
              <a:solidFill>
                <a:srgbClr val="04064C"/>
              </a:solidFill>
              <a:latin typeface="Times New Roman"/>
              <a:ea typeface="Times New Roman"/>
              <a:cs typeface="Times New Roman"/>
              <a:sym typeface="Times New Roman"/>
            </a:endParaRPr>
          </a:p>
        </p:txBody>
      </p:sp>
      <p:sp>
        <p:nvSpPr>
          <p:cNvPr id="82" name="Google Shape;82;p3"/>
          <p:cNvSpPr txBox="1"/>
          <p:nvPr/>
        </p:nvSpPr>
        <p:spPr>
          <a:xfrm>
            <a:off x="0" y="0"/>
            <a:ext cx="4795800" cy="11418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83" name="Google Shape;83;p3"/>
          <p:cNvSpPr txBox="1"/>
          <p:nvPr/>
        </p:nvSpPr>
        <p:spPr>
          <a:xfrm>
            <a:off x="-105825" y="6548450"/>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85" name="Google Shape;85;p3"/>
          <p:cNvSpPr txBox="1"/>
          <p:nvPr/>
        </p:nvSpPr>
        <p:spPr>
          <a:xfrm>
            <a:off x="-12" y="274518"/>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Introduction</a:t>
            </a:r>
            <a:endParaRPr dirty="0"/>
          </a:p>
        </p:txBody>
      </p:sp>
      <p:sp>
        <p:nvSpPr>
          <p:cNvPr id="86" name="Google Shape;86;p3"/>
          <p:cNvSpPr txBox="1"/>
          <p:nvPr/>
        </p:nvSpPr>
        <p:spPr>
          <a:xfrm>
            <a:off x="270588" y="1632856"/>
            <a:ext cx="8680371" cy="4028924"/>
          </a:xfrm>
          <a:prstGeom prst="rect">
            <a:avLst/>
          </a:prstGeom>
          <a:noFill/>
          <a:ln>
            <a:noFill/>
          </a:ln>
        </p:spPr>
        <p:txBody>
          <a:bodyPr spcFirstLastPara="1" wrap="square" lIns="90000" tIns="46800" rIns="90000" bIns="46800" anchor="t" anchorCtr="0">
            <a:spAutoFit/>
          </a:bodyPr>
          <a:lstStyle/>
          <a:p>
            <a:pPr algn="just">
              <a:lnSpc>
                <a:spcPct val="150000"/>
              </a:lnSpc>
              <a:spcBef>
                <a:spcPts val="500"/>
              </a:spcBef>
              <a:spcAft>
                <a:spcPts val="500"/>
              </a:spcAft>
              <a:buClr>
                <a:schemeClr val="dk1"/>
              </a:buClr>
              <a:buSzPts val="1100"/>
            </a:pPr>
            <a:r>
              <a:rPr lang="en-US" sz="1800" dirty="0">
                <a:highlight>
                  <a:srgbClr val="FFFFFF"/>
                </a:highlight>
                <a:latin typeface="Times New Roman" panose="02020603050405020304" pitchFamily="18" charset="0"/>
                <a:cs typeface="Times New Roman" panose="02020603050405020304" pitchFamily="18" charset="0"/>
              </a:rPr>
              <a:t>Bike sharing systems are an important component of smart city transportation solutions. Unlike traditional transport services, bike rental systems provide detailed and structured data that captures mobility behavior across different environmental conditions. Understanding how factors such as weather, season, and temperature affect bike usage is essential for effective system management. Accurate demand prediction helps avoid issues like bike shortages and over-crowding. This project applies data analytics and machine learning techniques to predict daily bike rental counts, enabling data-driven decision-making and improved operational efficiency.</a:t>
            </a:r>
          </a:p>
          <a:p>
            <a:pPr lvl="0" algn="just" rtl="0">
              <a:lnSpc>
                <a:spcPct val="115000"/>
              </a:lnSpc>
              <a:spcBef>
                <a:spcPts val="500"/>
              </a:spcBef>
              <a:spcAft>
                <a:spcPts val="500"/>
              </a:spcAft>
              <a:buClr>
                <a:schemeClr val="dk1"/>
              </a:buClr>
              <a:buSzPts val="1100"/>
            </a:pPr>
            <a:endParaRPr sz="20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5"/>
          <p:cNvSpPr txBox="1"/>
          <p:nvPr/>
        </p:nvSpPr>
        <p:spPr>
          <a:xfrm>
            <a:off x="4795825"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03" name="Google Shape;103;p5"/>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3600" b="1" i="0" u="none" dirty="0">
                <a:solidFill>
                  <a:srgbClr val="C00000"/>
                </a:solidFill>
                <a:latin typeface="Times New Roman"/>
                <a:ea typeface="Times New Roman"/>
                <a:cs typeface="Times New Roman"/>
                <a:sym typeface="Times New Roman"/>
              </a:rPr>
              <a:t>Problem Identification</a:t>
            </a:r>
            <a:endParaRPr sz="3600" b="1" i="0" u="none" dirty="0">
              <a:solidFill>
                <a:srgbClr val="C00000"/>
              </a:solidFill>
              <a:latin typeface="Calibri"/>
              <a:ea typeface="Calibri"/>
              <a:cs typeface="Calibri"/>
              <a:sym typeface="Calibri"/>
            </a:endParaRPr>
          </a:p>
        </p:txBody>
      </p:sp>
      <p:sp>
        <p:nvSpPr>
          <p:cNvPr id="104" name="Google Shape;104;p5"/>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5" name="TextBox 4">
            <a:extLst>
              <a:ext uri="{FF2B5EF4-FFF2-40B4-BE49-F238E27FC236}">
                <a16:creationId xmlns:a16="http://schemas.microsoft.com/office/drawing/2014/main" id="{ED3DDED0-F7C2-F073-919B-0258FE3402DE}"/>
              </a:ext>
            </a:extLst>
          </p:cNvPr>
          <p:cNvSpPr txBox="1"/>
          <p:nvPr/>
        </p:nvSpPr>
        <p:spPr>
          <a:xfrm>
            <a:off x="246380" y="1420912"/>
            <a:ext cx="8735060" cy="3508653"/>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Bike rental demand is highly dynamic and influenced by multiple external factors such as weather conditions, seasonal changes, working days, and holidays. Inaccurate demand forecasting can result in operational inefficiencies, including insufficient bike availability during peak demand or excess bikes during low usage periods. Traditional statistical methods are limited in capturing complex non-linear relationships between these variables. Therefore, the main problem is to develop an accurate and reliable prediction model that can estimate daily bike rental demand based on environmental and seasonal factors</a:t>
            </a:r>
            <a:r>
              <a:rPr lang="en-US" sz="2400" dirty="0"/>
              <a:t>.</a:t>
            </a: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p:nvPr/>
        </p:nvSpPr>
        <p:spPr>
          <a:xfrm>
            <a:off x="4067175" y="0"/>
            <a:ext cx="50769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13" name="Google Shape;113;p6"/>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14" name="Google Shape;114;p6"/>
          <p:cNvSpPr txBox="1"/>
          <p:nvPr/>
        </p:nvSpPr>
        <p:spPr>
          <a:xfrm>
            <a:off x="0" y="6550025"/>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16" name="Google Shape;116;p6"/>
          <p:cNvSpPr txBox="1"/>
          <p:nvPr/>
        </p:nvSpPr>
        <p:spPr>
          <a:xfrm>
            <a:off x="65063" y="300043"/>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IN" sz="3600" b="1" dirty="0">
                <a:solidFill>
                  <a:srgbClr val="C00000"/>
                </a:solidFill>
                <a:latin typeface="Times New Roman" panose="02020603050405020304" pitchFamily="18" charset="0"/>
                <a:cs typeface="Times New Roman" panose="02020603050405020304" pitchFamily="18" charset="0"/>
              </a:rPr>
              <a:t>Objective</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7D9F0B-F5C1-D0A9-0F79-44C687F42777}"/>
              </a:ext>
            </a:extLst>
          </p:cNvPr>
          <p:cNvSpPr txBox="1"/>
          <p:nvPr/>
        </p:nvSpPr>
        <p:spPr>
          <a:xfrm>
            <a:off x="270589" y="1707502"/>
            <a:ext cx="8509618" cy="2951064"/>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primary objective of this project is to predict daily bike rental counts using environmental and seasonal attributes. Additional objectives include performing detailed exploratory data analysis to understand rental patterns, identifying key features that influence demand, preprocessing and transforming the dataset for machine learning, comparing multiple predictive models, and selecting the best-performing model. The project also aims to support better planning and decision-making for bike rental system operators.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2f2e34be905_1_19"/>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p:cNvSpPr txBox="1"/>
          <p:nvPr/>
        </p:nvSpPr>
        <p:spPr>
          <a:xfrm>
            <a:off x="0" y="285750"/>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System Architecture</a:t>
            </a:r>
            <a:endParaRPr dirty="0"/>
          </a:p>
        </p:txBody>
      </p:sp>
      <p:pic>
        <p:nvPicPr>
          <p:cNvPr id="3" name="Picture 2">
            <a:extLst>
              <a:ext uri="{FF2B5EF4-FFF2-40B4-BE49-F238E27FC236}">
                <a16:creationId xmlns:a16="http://schemas.microsoft.com/office/drawing/2014/main" id="{5BE9CBC8-AE40-F65F-57E1-A1BF3B5EE2D8}"/>
              </a:ext>
            </a:extLst>
          </p:cNvPr>
          <p:cNvPicPr>
            <a:picLocks noChangeAspect="1"/>
          </p:cNvPicPr>
          <p:nvPr/>
        </p:nvPicPr>
        <p:blipFill>
          <a:blip r:embed="rId3"/>
          <a:stretch>
            <a:fillRect/>
          </a:stretch>
        </p:blipFill>
        <p:spPr>
          <a:xfrm>
            <a:off x="244507" y="1511559"/>
            <a:ext cx="8654985" cy="40588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4CD1D4BA-8B0F-7D38-BA31-77624CDC0D05}"/>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52D81127-0855-24C5-C046-F3AC1B92840B}"/>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A79A0D52-249B-743D-6D62-130A3E94F60D}"/>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D2D91028-935B-1BC6-C164-A106E5057AAA}"/>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0A4164CB-C4C0-8D2B-2F27-3C066716EFDC}"/>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4" name="Picture 3">
            <a:extLst>
              <a:ext uri="{FF2B5EF4-FFF2-40B4-BE49-F238E27FC236}">
                <a16:creationId xmlns:a16="http://schemas.microsoft.com/office/drawing/2014/main" id="{FB56290E-F2EA-0FEC-30DC-2EF89F21AC61}"/>
              </a:ext>
            </a:extLst>
          </p:cNvPr>
          <p:cNvPicPr>
            <a:picLocks noChangeAspect="1"/>
          </p:cNvPicPr>
          <p:nvPr/>
        </p:nvPicPr>
        <p:blipFill>
          <a:blip r:embed="rId3"/>
          <a:stretch>
            <a:fillRect/>
          </a:stretch>
        </p:blipFill>
        <p:spPr>
          <a:xfrm>
            <a:off x="494522" y="1416701"/>
            <a:ext cx="7856376" cy="4794747"/>
          </a:xfrm>
          <a:prstGeom prst="rect">
            <a:avLst/>
          </a:prstGeom>
        </p:spPr>
      </p:pic>
    </p:spTree>
    <p:extLst>
      <p:ext uri="{BB962C8B-B14F-4D97-AF65-F5344CB8AC3E}">
        <p14:creationId xmlns:p14="http://schemas.microsoft.com/office/powerpoint/2010/main" val="3637679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F91AD85C-28D3-02B0-B05C-243A3D632E2D}"/>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6EE7CFE3-65E5-8594-6FF9-7395D82D5B68}"/>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EFA02301-9409-A7A3-A14D-98EB83E9C468}"/>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27603C17-5F7F-5B40-DA51-23DFFA2272B8}"/>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C146BF18-3E69-73F2-FF10-675D8F85086B}"/>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3" name="Picture 2">
            <a:extLst>
              <a:ext uri="{FF2B5EF4-FFF2-40B4-BE49-F238E27FC236}">
                <a16:creationId xmlns:a16="http://schemas.microsoft.com/office/drawing/2014/main" id="{C3D97CD8-F699-1613-CE17-25EEEAAC710E}"/>
              </a:ext>
            </a:extLst>
          </p:cNvPr>
          <p:cNvPicPr>
            <a:picLocks noChangeAspect="1"/>
          </p:cNvPicPr>
          <p:nvPr/>
        </p:nvPicPr>
        <p:blipFill>
          <a:blip r:embed="rId3"/>
          <a:stretch>
            <a:fillRect/>
          </a:stretch>
        </p:blipFill>
        <p:spPr>
          <a:xfrm>
            <a:off x="699796" y="1436915"/>
            <a:ext cx="7744407" cy="4675802"/>
          </a:xfrm>
          <a:prstGeom prst="rect">
            <a:avLst/>
          </a:prstGeom>
        </p:spPr>
      </p:pic>
    </p:spTree>
    <p:extLst>
      <p:ext uri="{BB962C8B-B14F-4D97-AF65-F5344CB8AC3E}">
        <p14:creationId xmlns:p14="http://schemas.microsoft.com/office/powerpoint/2010/main" val="4157863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861757A7-3878-A015-FA85-4696C32FE440}"/>
            </a:ext>
          </a:extLst>
        </p:cNvPr>
        <p:cNvGrpSpPr/>
        <p:nvPr/>
      </p:nvGrpSpPr>
      <p:grpSpPr>
        <a:xfrm>
          <a:off x="0" y="0"/>
          <a:ext cx="0" cy="0"/>
          <a:chOff x="0" y="0"/>
          <a:chExt cx="0" cy="0"/>
        </a:xfrm>
      </p:grpSpPr>
      <p:sp>
        <p:nvSpPr>
          <p:cNvPr id="122" name="Google Shape;122;g2f2e34be905_1_19">
            <a:extLst>
              <a:ext uri="{FF2B5EF4-FFF2-40B4-BE49-F238E27FC236}">
                <a16:creationId xmlns:a16="http://schemas.microsoft.com/office/drawing/2014/main" id="{7BF3565D-7A4F-59FF-8511-D3A720CBAF57}"/>
              </a:ext>
            </a:extLst>
          </p:cNvPr>
          <p:cNvSpPr txBox="1"/>
          <p:nvPr/>
        </p:nvSpPr>
        <p:spPr>
          <a:xfrm>
            <a:off x="4795800" y="0"/>
            <a:ext cx="43482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3" name="Google Shape;123;g2f2e34be905_1_19">
            <a:extLst>
              <a:ext uri="{FF2B5EF4-FFF2-40B4-BE49-F238E27FC236}">
                <a16:creationId xmlns:a16="http://schemas.microsoft.com/office/drawing/2014/main" id="{7E9D0851-1991-CFEA-3FC9-7FA0E5692506}"/>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24" name="Google Shape;124;g2f2e34be905_1_19">
            <a:extLst>
              <a:ext uri="{FF2B5EF4-FFF2-40B4-BE49-F238E27FC236}">
                <a16:creationId xmlns:a16="http://schemas.microsoft.com/office/drawing/2014/main" id="{B8759A65-895E-CF42-6DD8-DD06DE48CBAE}"/>
              </a:ext>
            </a:extLst>
          </p:cNvPr>
          <p:cNvSpPr txBox="1"/>
          <p:nvPr/>
        </p:nvSpPr>
        <p:spPr>
          <a:xfrm>
            <a:off x="0" y="6550025"/>
            <a:ext cx="9144000" cy="309900"/>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26" name="Google Shape;126;g2f2e34be905_1_19">
            <a:extLst>
              <a:ext uri="{FF2B5EF4-FFF2-40B4-BE49-F238E27FC236}">
                <a16:creationId xmlns:a16="http://schemas.microsoft.com/office/drawing/2014/main" id="{37C8C85E-808E-D9DD-A878-CFC4C3AECF10}"/>
              </a:ext>
            </a:extLst>
          </p:cNvPr>
          <p:cNvSpPr txBox="1"/>
          <p:nvPr/>
        </p:nvSpPr>
        <p:spPr>
          <a:xfrm>
            <a:off x="0" y="28575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9D1E23"/>
                </a:solidFill>
                <a:latin typeface="Times New Roman"/>
                <a:cs typeface="Times New Roman"/>
                <a:sym typeface="Times New Roman"/>
              </a:rPr>
              <a:t>Visualizations</a:t>
            </a:r>
            <a:endParaRPr dirty="0"/>
          </a:p>
        </p:txBody>
      </p:sp>
      <p:pic>
        <p:nvPicPr>
          <p:cNvPr id="4" name="Picture 3">
            <a:extLst>
              <a:ext uri="{FF2B5EF4-FFF2-40B4-BE49-F238E27FC236}">
                <a16:creationId xmlns:a16="http://schemas.microsoft.com/office/drawing/2014/main" id="{68EB79CB-A311-C48E-AD3D-7F107ADFA47A}"/>
              </a:ext>
            </a:extLst>
          </p:cNvPr>
          <p:cNvPicPr>
            <a:picLocks noChangeAspect="1"/>
          </p:cNvPicPr>
          <p:nvPr/>
        </p:nvPicPr>
        <p:blipFill>
          <a:blip r:embed="rId3"/>
          <a:stretch>
            <a:fillRect/>
          </a:stretch>
        </p:blipFill>
        <p:spPr>
          <a:xfrm>
            <a:off x="170121" y="1364663"/>
            <a:ext cx="4009993" cy="3845290"/>
          </a:xfrm>
          <a:prstGeom prst="rect">
            <a:avLst/>
          </a:prstGeom>
        </p:spPr>
      </p:pic>
      <p:pic>
        <p:nvPicPr>
          <p:cNvPr id="6" name="Picture 5">
            <a:extLst>
              <a:ext uri="{FF2B5EF4-FFF2-40B4-BE49-F238E27FC236}">
                <a16:creationId xmlns:a16="http://schemas.microsoft.com/office/drawing/2014/main" id="{5707BEA5-BA95-1F54-D824-C42D758434CF}"/>
              </a:ext>
            </a:extLst>
          </p:cNvPr>
          <p:cNvPicPr>
            <a:picLocks noChangeAspect="1"/>
          </p:cNvPicPr>
          <p:nvPr/>
        </p:nvPicPr>
        <p:blipFill>
          <a:blip r:embed="rId4"/>
          <a:stretch>
            <a:fillRect/>
          </a:stretch>
        </p:blipFill>
        <p:spPr>
          <a:xfrm>
            <a:off x="4245428" y="1364661"/>
            <a:ext cx="4898571" cy="3845290"/>
          </a:xfrm>
          <a:prstGeom prst="rect">
            <a:avLst/>
          </a:prstGeom>
        </p:spPr>
      </p:pic>
    </p:spTree>
    <p:extLst>
      <p:ext uri="{BB962C8B-B14F-4D97-AF65-F5344CB8AC3E}">
        <p14:creationId xmlns:p14="http://schemas.microsoft.com/office/powerpoint/2010/main" val="413076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33" name="Google Shape;133;p7"/>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4" name="Google Shape;134;p7"/>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6" name="Google Shape;136;p7"/>
          <p:cNvSpPr txBox="1"/>
          <p:nvPr/>
        </p:nvSpPr>
        <p:spPr>
          <a:xfrm>
            <a:off x="0" y="30822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dirty="0">
                <a:solidFill>
                  <a:srgbClr val="C00000"/>
                </a:solidFill>
                <a:latin typeface="Times New Roman" panose="02020603050405020304" pitchFamily="18" charset="0"/>
                <a:cs typeface="Times New Roman" panose="02020603050405020304" pitchFamily="18" charset="0"/>
              </a:rPr>
              <a:t>K</a:t>
            </a:r>
            <a:r>
              <a:rPr lang="en-IN" sz="3600" b="1" dirty="0" err="1">
                <a:solidFill>
                  <a:srgbClr val="C00000"/>
                </a:solidFill>
                <a:latin typeface="Times New Roman" panose="02020603050405020304" pitchFamily="18" charset="0"/>
                <a:cs typeface="Times New Roman" panose="02020603050405020304" pitchFamily="18" charset="0"/>
              </a:rPr>
              <a:t>ey</a:t>
            </a:r>
            <a:r>
              <a:rPr lang="en-IN" sz="3600" b="1" dirty="0">
                <a:solidFill>
                  <a:srgbClr val="C00000"/>
                </a:solidFill>
                <a:latin typeface="Times New Roman" panose="02020603050405020304" pitchFamily="18" charset="0"/>
                <a:cs typeface="Times New Roman" panose="02020603050405020304" pitchFamily="18" charset="0"/>
              </a:rPr>
              <a:t> Insights</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10E302-537B-C0EB-7563-B48758695593}"/>
              </a:ext>
            </a:extLst>
          </p:cNvPr>
          <p:cNvSpPr txBox="1"/>
          <p:nvPr/>
        </p:nvSpPr>
        <p:spPr>
          <a:xfrm>
            <a:off x="426720" y="1629536"/>
            <a:ext cx="8290560" cy="397031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Bike rental demand increases significantly with higher temperatures and pleasant weather conditions.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Strong seasonal patterns are observed, with peak demand during summer and fall and lower usage in winter.</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Adverse weather conditions such as rain and snow lead to a noticeable decline in bike rentals.</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Rentals are consistently higher on working days, indicating frequent use for daily commuting.</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demand patterns show non-linear relationships, making machine learning models suitable for accurate prediction.</a:t>
            </a:r>
            <a:endParaRPr lang="en-US" sz="1800" dirty="0">
              <a:highlight>
                <a:srgbClr val="F7F7F7"/>
              </a:highligh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5A9F6560-959A-555B-D356-E5AF36F1BEEC}"/>
            </a:ext>
          </a:extLst>
        </p:cNvPr>
        <p:cNvGrpSpPr/>
        <p:nvPr/>
      </p:nvGrpSpPr>
      <p:grpSpPr>
        <a:xfrm>
          <a:off x="0" y="0"/>
          <a:ext cx="0" cy="0"/>
          <a:chOff x="0" y="0"/>
          <a:chExt cx="0" cy="0"/>
        </a:xfrm>
      </p:grpSpPr>
      <p:sp>
        <p:nvSpPr>
          <p:cNvPr id="132" name="Google Shape;132;p7">
            <a:extLst>
              <a:ext uri="{FF2B5EF4-FFF2-40B4-BE49-F238E27FC236}">
                <a16:creationId xmlns:a16="http://schemas.microsoft.com/office/drawing/2014/main" id="{E9A3AB19-1DE3-3C28-3707-22B4CBAEA704}"/>
              </a:ext>
            </a:extLst>
          </p:cNvPr>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33" name="Google Shape;133;p7">
            <a:extLst>
              <a:ext uri="{FF2B5EF4-FFF2-40B4-BE49-F238E27FC236}">
                <a16:creationId xmlns:a16="http://schemas.microsoft.com/office/drawing/2014/main" id="{E0C1B14A-A2FF-A91C-E9BB-3FA62FE1A93B}"/>
              </a:ext>
            </a:extLst>
          </p:cNvPr>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4" name="Google Shape;134;p7">
            <a:extLst>
              <a:ext uri="{FF2B5EF4-FFF2-40B4-BE49-F238E27FC236}">
                <a16:creationId xmlns:a16="http://schemas.microsoft.com/office/drawing/2014/main" id="{DCB93EAD-E4F6-F6B2-4775-844B8F2296B0}"/>
              </a:ext>
            </a:extLst>
          </p:cNvPr>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36" name="Google Shape;136;p7">
            <a:extLst>
              <a:ext uri="{FF2B5EF4-FFF2-40B4-BE49-F238E27FC236}">
                <a16:creationId xmlns:a16="http://schemas.microsoft.com/office/drawing/2014/main" id="{02C3D1D4-2E66-3856-1353-2AE8A1C47891}"/>
              </a:ext>
            </a:extLst>
          </p:cNvPr>
          <p:cNvSpPr txBox="1"/>
          <p:nvPr/>
        </p:nvSpPr>
        <p:spPr>
          <a:xfrm>
            <a:off x="0" y="308220"/>
            <a:ext cx="4795800" cy="648512"/>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IN" sz="3600" b="1" dirty="0">
                <a:solidFill>
                  <a:srgbClr val="C00000"/>
                </a:solidFill>
                <a:latin typeface="Times New Roman" panose="02020603050405020304" pitchFamily="18" charset="0"/>
                <a:cs typeface="Times New Roman" panose="02020603050405020304" pitchFamily="18" charset="0"/>
              </a:rPr>
              <a:t>Related work</a:t>
            </a:r>
            <a:endParaRPr sz="3600" b="1" dirty="0">
              <a:solidFill>
                <a:srgbClr val="C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A159562-E09C-4E43-5A1A-232EEB5540D4}"/>
              </a:ext>
            </a:extLst>
          </p:cNvPr>
          <p:cNvSpPr txBox="1"/>
          <p:nvPr/>
        </p:nvSpPr>
        <p:spPr>
          <a:xfrm>
            <a:off x="426720" y="1629536"/>
            <a:ext cx="8290560" cy="3782061"/>
          </a:xfrm>
          <a:prstGeom prst="rect">
            <a:avLst/>
          </a:prstGeom>
          <a:noFill/>
        </p:spPr>
        <p:txBody>
          <a:bodyPr wrap="square">
            <a:spAutoFit/>
          </a:bodyPr>
          <a:lstStyle/>
          <a:p>
            <a:pPr algn="just">
              <a:lnSpc>
                <a:spcPct val="150000"/>
              </a:lnSpc>
            </a:pPr>
            <a:r>
              <a:rPr lang="en-US" sz="1800" dirty="0">
                <a:highlight>
                  <a:srgbClr val="F7F7F7"/>
                </a:highlight>
                <a:latin typeface="Times New Roman" panose="02020603050405020304" pitchFamily="18" charset="0"/>
                <a:cs typeface="Times New Roman" panose="02020603050405020304" pitchFamily="18" charset="0"/>
              </a:rPr>
              <a:t>Several studies have explored bike rental demand prediction using data analytics and machine learning techniques. Earlier research used linear regression and time-series analysis to model demand patterns. Recent studies have applied advanced algorithms such as decision trees, random forests, gradient boosting, and neural networks to capture complex relationships between weather, seasonality, and bike usage. Most studies highlight temperature and weather conditions as major influencing factors. This project builds upon previous work by conducting comprehensive model comparison and focusing on daily demand prediction.</a:t>
            </a:r>
          </a:p>
          <a:p>
            <a:pPr>
              <a:lnSpc>
                <a:spcPct val="150000"/>
              </a:lnSpc>
            </a:pPr>
            <a:endParaRPr lang="en-US" sz="1800" dirty="0">
              <a:highlight>
                <a:srgbClr val="F7F7F7"/>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395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chemeClr val="lt1"/>
              </a:buClr>
              <a:buSzPts val="1400"/>
              <a:buFont typeface="Calibri"/>
              <a:buNone/>
            </a:pPr>
            <a:r>
              <a:rPr lang="en-US" sz="1400" b="1" i="0" u="none">
                <a:solidFill>
                  <a:schemeClr val="lt1"/>
                </a:solidFill>
                <a:latin typeface="Calibri"/>
                <a:ea typeface="Calibri"/>
                <a:cs typeface="Calibri"/>
                <a:sym typeface="Calibri"/>
              </a:rPr>
              <a:t>IEEE - International Conference on Vision Towards Emerging Trends in Communication and Networking (ViTECoN’23)</a:t>
            </a:r>
            <a:endParaRPr/>
          </a:p>
        </p:txBody>
      </p:sp>
      <p:sp>
        <p:nvSpPr>
          <p:cNvPr id="153" name="Google Shape;153;p8"/>
          <p:cNvSpPr txBox="1"/>
          <p:nvPr/>
        </p:nvSpPr>
        <p:spPr>
          <a:xfrm>
            <a:off x="47958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54" name="Google Shape;154;p8"/>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56" name="Google Shape;156;p8"/>
          <p:cNvSpPr txBox="1"/>
          <p:nvPr/>
        </p:nvSpPr>
        <p:spPr>
          <a:xfrm>
            <a:off x="0" y="273000"/>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a:solidFill>
                  <a:srgbClr val="9D1E23"/>
                </a:solidFill>
                <a:latin typeface="Times New Roman"/>
                <a:ea typeface="Times New Roman"/>
                <a:cs typeface="Times New Roman"/>
                <a:sym typeface="Times New Roman"/>
              </a:rPr>
              <a:t>Proposed Methodology</a:t>
            </a:r>
            <a:endParaRPr/>
          </a:p>
        </p:txBody>
      </p:sp>
      <p:sp>
        <p:nvSpPr>
          <p:cNvPr id="3" name="TextBox 2">
            <a:extLst>
              <a:ext uri="{FF2B5EF4-FFF2-40B4-BE49-F238E27FC236}">
                <a16:creationId xmlns:a16="http://schemas.microsoft.com/office/drawing/2014/main" id="{214884A0-FE42-18B1-354F-CA4569AFEDC7}"/>
              </a:ext>
            </a:extLst>
          </p:cNvPr>
          <p:cNvSpPr txBox="1"/>
          <p:nvPr/>
        </p:nvSpPr>
        <p:spPr>
          <a:xfrm>
            <a:off x="360680" y="1311136"/>
            <a:ext cx="8422640" cy="523220"/>
          </a:xfrm>
          <a:prstGeom prst="rect">
            <a:avLst/>
          </a:prstGeom>
          <a:noFill/>
        </p:spPr>
        <p:txBody>
          <a:bodyPr wrap="square">
            <a:spAutoFit/>
          </a:bodyPr>
          <a:lstStyle/>
          <a:p>
            <a:br>
              <a:rPr lang="en-US"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47C2CF-76A1-830E-1E7A-49BC8AA68BCA}"/>
              </a:ext>
            </a:extLst>
          </p:cNvPr>
          <p:cNvSpPr txBox="1"/>
          <p:nvPr/>
        </p:nvSpPr>
        <p:spPr>
          <a:xfrm>
            <a:off x="586124" y="1756000"/>
            <a:ext cx="8102382" cy="3366243"/>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proposed methodology begins with importing and understanding the bike rental dataset. Data preprocessing includes handling categorical variables such as season and weather conditions and scaling numerical attributes like temperature and humidity. Exploratory data analysis is conducted to visualize trends and relationships between features and rental counts. Feature selection is performed to identify the most influential variables. The dataset is split into training and testing sets. Multiple regression models are trained and evaluated using metrics such as Root Mean Square Error (RMSE) and R² score. The best model is selected for final prediction</a:t>
            </a:r>
            <a:r>
              <a:rPr lang="en-US" sz="1800" dirty="0"/>
              <a:t>.</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1"/>
          <p:cNvSpPr txBox="1"/>
          <p:nvPr/>
        </p:nvSpPr>
        <p:spPr>
          <a:xfrm>
            <a:off x="0" y="6553200"/>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173" name="Google Shape;173;p11"/>
          <p:cNvSpPr txBox="1"/>
          <p:nvPr/>
        </p:nvSpPr>
        <p:spPr>
          <a:xfrm>
            <a:off x="48006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74" name="Google Shape;174;p11"/>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76" name="Google Shape;176;p11"/>
          <p:cNvSpPr txBox="1"/>
          <p:nvPr/>
        </p:nvSpPr>
        <p:spPr>
          <a:xfrm>
            <a:off x="0" y="297525"/>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a:solidFill>
                  <a:srgbClr val="9D1E23"/>
                </a:solidFill>
                <a:latin typeface="Times New Roman"/>
                <a:ea typeface="Times New Roman"/>
                <a:cs typeface="Times New Roman"/>
                <a:sym typeface="Times New Roman"/>
              </a:rPr>
              <a:t>Results and Discussion </a:t>
            </a:r>
            <a:endParaRPr/>
          </a:p>
        </p:txBody>
      </p:sp>
      <p:sp>
        <p:nvSpPr>
          <p:cNvPr id="5" name="TextBox 4">
            <a:extLst>
              <a:ext uri="{FF2B5EF4-FFF2-40B4-BE49-F238E27FC236}">
                <a16:creationId xmlns:a16="http://schemas.microsoft.com/office/drawing/2014/main" id="{4B08C3B1-F921-FB94-AA74-DBB503BC3A42}"/>
              </a:ext>
            </a:extLst>
          </p:cNvPr>
          <p:cNvSpPr txBox="1"/>
          <p:nvPr/>
        </p:nvSpPr>
        <p:spPr>
          <a:xfrm>
            <a:off x="132080" y="1377213"/>
            <a:ext cx="8940800" cy="3366563"/>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results indicate that environmental and seasonal factors have a significant impact on bike rental demand. Higher temperatures and favorable weather conditions are associated with increased rentals, while adverse weather conditions lead to reduced usage. Model comparison shows that advanced machine learning models outperform baseline regression models in terms of prediction accuracy. The selected model provides reliable predictions with lower error values. These results demonstrate the effectiveness of machine learning techniques for demand forecasting in bike sharing systems.</a:t>
            </a:r>
          </a:p>
          <a:p>
            <a:pPr algn="just">
              <a:lnSpc>
                <a:spcPct val="150000"/>
              </a:lnSpc>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3"/>
          <p:cNvSpPr txBox="1"/>
          <p:nvPr/>
        </p:nvSpPr>
        <p:spPr>
          <a:xfrm>
            <a:off x="0" y="6557962"/>
            <a:ext cx="9144000" cy="309562"/>
          </a:xfrm>
          <a:prstGeom prst="rect">
            <a:avLst/>
          </a:prstGeom>
          <a:solidFill>
            <a:srgbClr val="04064C"/>
          </a:solidFill>
          <a:ln>
            <a:noFill/>
          </a:ln>
        </p:spPr>
        <p:txBody>
          <a:bodyPr spcFirstLastPara="1" wrap="square" lIns="90000" tIns="46800" rIns="90000" bIns="46800" anchor="t" anchorCtr="0">
            <a:spAutoFit/>
          </a:bodyPr>
          <a:lstStyle/>
          <a:p>
            <a:pPr marL="0" marR="0" lvl="0" indent="0" algn="ctr" rtl="0">
              <a:lnSpc>
                <a:spcPct val="100000"/>
              </a:lnSpc>
              <a:spcBef>
                <a:spcPts val="0"/>
              </a:spcBef>
              <a:spcAft>
                <a:spcPts val="0"/>
              </a:spcAft>
              <a:buClr>
                <a:schemeClr val="lt1"/>
              </a:buClr>
              <a:buSzPts val="1400"/>
              <a:buFont typeface="Calibri"/>
              <a:buNone/>
            </a:pPr>
            <a:r>
              <a:rPr lang="en-US" sz="1400" b="0" i="0" u="none">
                <a:solidFill>
                  <a:schemeClr val="lt1"/>
                </a:solidFill>
                <a:latin typeface="Calibri"/>
                <a:ea typeface="Calibri"/>
                <a:cs typeface="Calibri"/>
                <a:sym typeface="Calibri"/>
              </a:rPr>
              <a:t>International Conference on Intelligent Computing and Communication (ICICC 24)-AUGUST 21-23, 2024</a:t>
            </a:r>
            <a:endParaRPr/>
          </a:p>
        </p:txBody>
      </p:sp>
      <p:sp>
        <p:nvSpPr>
          <p:cNvPr id="194" name="Google Shape;194;p13"/>
          <p:cNvSpPr txBox="1"/>
          <p:nvPr/>
        </p:nvSpPr>
        <p:spPr>
          <a:xfrm>
            <a:off x="4800600" y="0"/>
            <a:ext cx="4343400" cy="1079700"/>
          </a:xfrm>
          <a:prstGeom prst="rect">
            <a:avLst/>
          </a:prstGeom>
          <a:solidFill>
            <a:srgbClr val="FDCF51"/>
          </a:solidFill>
          <a:ln w="25550" cap="sq" cmpd="sng">
            <a:solidFill>
              <a:srgbClr val="FDCF5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95" name="Google Shape;195;p13"/>
          <p:cNvSpPr txBox="1"/>
          <p:nvPr/>
        </p:nvSpPr>
        <p:spPr>
          <a:xfrm>
            <a:off x="0" y="0"/>
            <a:ext cx="4795800" cy="1079700"/>
          </a:xfrm>
          <a:prstGeom prst="rect">
            <a:avLst/>
          </a:prstGeom>
          <a:solidFill>
            <a:srgbClr val="FCBB06"/>
          </a:solidFill>
          <a:ln w="25550" cap="sq" cmpd="sng">
            <a:solidFill>
              <a:srgbClr val="FCBB0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Calibri"/>
              <a:ea typeface="Calibri"/>
              <a:cs typeface="Calibri"/>
              <a:sym typeface="Calibri"/>
            </a:endParaRPr>
          </a:p>
        </p:txBody>
      </p:sp>
      <p:sp>
        <p:nvSpPr>
          <p:cNvPr id="196" name="Google Shape;196;p13"/>
          <p:cNvSpPr txBox="1"/>
          <p:nvPr/>
        </p:nvSpPr>
        <p:spPr>
          <a:xfrm>
            <a:off x="0" y="363625"/>
            <a:ext cx="4795800" cy="648600"/>
          </a:xfrm>
          <a:prstGeom prst="rect">
            <a:avLst/>
          </a:prstGeom>
          <a:noFill/>
          <a:ln>
            <a:noFill/>
          </a:ln>
        </p:spPr>
        <p:txBody>
          <a:bodyPr spcFirstLastPara="1" wrap="square" lIns="90000" tIns="46800" rIns="90000" bIns="46800" anchor="t" anchorCtr="0">
            <a:spAutoFit/>
          </a:bodyPr>
          <a:lstStyle/>
          <a:p>
            <a:pPr marL="0" marR="0" lvl="0" indent="0" algn="l" rtl="0">
              <a:lnSpc>
                <a:spcPct val="100000"/>
              </a:lnSpc>
              <a:spcBef>
                <a:spcPts val="0"/>
              </a:spcBef>
              <a:spcAft>
                <a:spcPts val="0"/>
              </a:spcAft>
              <a:buClr>
                <a:srgbClr val="9D1E23"/>
              </a:buClr>
              <a:buSzPts val="3600"/>
              <a:buFont typeface="Times New Roman"/>
              <a:buNone/>
            </a:pPr>
            <a:r>
              <a:rPr lang="en-US" sz="3600" b="1" i="0" u="none" dirty="0">
                <a:solidFill>
                  <a:srgbClr val="9D1E23"/>
                </a:solidFill>
                <a:latin typeface="Times New Roman"/>
                <a:ea typeface="Times New Roman"/>
                <a:cs typeface="Times New Roman"/>
                <a:sym typeface="Times New Roman"/>
              </a:rPr>
              <a:t>Conclusion</a:t>
            </a:r>
            <a:endParaRPr dirty="0"/>
          </a:p>
        </p:txBody>
      </p:sp>
      <p:sp>
        <p:nvSpPr>
          <p:cNvPr id="3" name="TextBox 2">
            <a:extLst>
              <a:ext uri="{FF2B5EF4-FFF2-40B4-BE49-F238E27FC236}">
                <a16:creationId xmlns:a16="http://schemas.microsoft.com/office/drawing/2014/main" id="{DE8C3440-FF52-408C-D616-82C8CB2DB6D4}"/>
              </a:ext>
            </a:extLst>
          </p:cNvPr>
          <p:cNvSpPr txBox="1"/>
          <p:nvPr/>
        </p:nvSpPr>
        <p:spPr>
          <a:xfrm>
            <a:off x="549267" y="1745718"/>
            <a:ext cx="7731760" cy="3782061"/>
          </a:xfrm>
          <a:prstGeom prst="rect">
            <a:avLst/>
          </a:prstGeom>
          <a:noFill/>
        </p:spPr>
        <p:txBody>
          <a:bodyPr wrap="square">
            <a:spAutoFit/>
          </a:bodyPr>
          <a:lstStyle/>
          <a:p>
            <a:pPr algn="just">
              <a:lnSpc>
                <a:spcPct val="150000"/>
              </a:lnSpc>
            </a:pPr>
            <a:r>
              <a:rPr lang="en-US" sz="1800" dirty="0">
                <a:latin typeface="Times New Roman" panose="02020603050405020304" pitchFamily="18" charset="0"/>
                <a:cs typeface="Times New Roman" panose="02020603050405020304" pitchFamily="18" charset="0"/>
              </a:rPr>
              <a:t>This project effectively applies data analysis and machine learning techniques to predict daily bike rental demand. Exploratory analysis shows that temperature, weather conditions, seasonality, and working days significantly influence bike usage patterns. Advanced machine learning models outperform traditional regression approaches by capturing non-linear relationships in the data. Accurate demand prediction can help bike rental operators optimize bike availability, reduce operational costs, and improve service efficiency. The system can be further enhanced by integrating real-time weather data for smarter decision-making in urban mobility solutions.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574</TotalTime>
  <Words>1108</Words>
  <Application>Microsoft Office PowerPoint</Application>
  <PresentationFormat>On-screen Show (4:3)</PresentationFormat>
  <Paragraphs>68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Sambit</dc:creator>
  <cp:lastModifiedBy>Pujith Kumar</cp:lastModifiedBy>
  <cp:revision>12</cp:revision>
  <dcterms:created xsi:type="dcterms:W3CDTF">2013-05-08T19:42:37Z</dcterms:created>
  <dcterms:modified xsi:type="dcterms:W3CDTF">2026-01-05T10:39:30Z</dcterms:modified>
</cp:coreProperties>
</file>